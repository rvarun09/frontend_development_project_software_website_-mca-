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3" r:id="rId7"/>
    <p:sldId id="264" r:id="rId8"/>
    <p:sldId id="262" r:id="rId9"/>
    <p:sldId id="261" r:id="rId10"/>
    <p:sldId id="265" r:id="rId11"/>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jA+1eX66IXCUKd/m7FHR3xUNQ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498" y="53"/>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pic>
        <p:nvPicPr>
          <p:cNvPr id="21" name="Google Shape;21;p45"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2" name="Google Shape;22;p45"/>
          <p:cNvGrpSpPr/>
          <p:nvPr/>
        </p:nvGrpSpPr>
        <p:grpSpPr>
          <a:xfrm>
            <a:off x="6146800" y="0"/>
            <a:ext cx="2997200" cy="876300"/>
            <a:chOff x="6096000" y="3924300"/>
            <a:chExt cx="2997200" cy="876300"/>
          </a:xfrm>
        </p:grpSpPr>
        <p:sp>
          <p:nvSpPr>
            <p:cNvPr id="23" name="Google Shape;23;p4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 name="Google Shape;24;p45"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5" name="Google Shape;25;p4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6" name="Google Shape;26;p45"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27" name="Google Shape;27;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4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45"/>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5"/>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
        <p:cNvGrpSpPr/>
        <p:nvPr/>
      </p:nvGrpSpPr>
      <p:grpSpPr>
        <a:xfrm>
          <a:off x="0" y="0"/>
          <a:ext cx="0" cy="0"/>
          <a:chOff x="0" y="0"/>
          <a:chExt cx="0" cy="0"/>
        </a:xfrm>
      </p:grpSpPr>
      <p:sp>
        <p:nvSpPr>
          <p:cNvPr id="33" name="Google Shape;33;p46"/>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6"/>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0" y="0"/>
            <a:ext cx="6477000" cy="8382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sz="4300" b="0" i="0">
                <a:solidFill>
                  <a:srgbClr val="54607B"/>
                </a:solidFill>
                <a:latin typeface="Trebuchet MS"/>
                <a:ea typeface="Trebuchet MS"/>
                <a:cs typeface="Trebuchet MS"/>
                <a:sym typeface="Trebuchet M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7"/>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7"/>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7" name="Google Shape;7;p4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4"/>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44"/>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 name="Google Shape;10;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1" name="Google Shape;11;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2" name="Google Shape;12;p44"/>
          <p:cNvGrpSpPr/>
          <p:nvPr/>
        </p:nvGrpSpPr>
        <p:grpSpPr>
          <a:xfrm>
            <a:off x="6146800" y="0"/>
            <a:ext cx="2997200" cy="876300"/>
            <a:chOff x="6096000" y="3924300"/>
            <a:chExt cx="2997200" cy="876300"/>
          </a:xfrm>
        </p:grpSpPr>
        <p:sp>
          <p:nvSpPr>
            <p:cNvPr id="13" name="Google Shape;13;p4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 name="Google Shape;14;p44"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15" name="Google Shape;15;p4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16" name="Google Shape;16;p44"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
        <p:nvSpPr>
          <p:cNvPr id="17" name="Google Shape;17;p44"/>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44"/>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44"/>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12700" marR="0" lvl="0"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
          <p:cNvSpPr txBox="1">
            <a:spLocks noGrp="1"/>
          </p:cNvSpPr>
          <p:nvPr>
            <p:ph type="title"/>
          </p:nvPr>
        </p:nvSpPr>
        <p:spPr>
          <a:xfrm>
            <a:off x="1167580" y="1270819"/>
            <a:ext cx="6781800" cy="641100"/>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100"/>
              </a:spcBef>
              <a:spcAft>
                <a:spcPts val="0"/>
              </a:spcAft>
              <a:buSzPts val="1400"/>
              <a:buNone/>
            </a:pPr>
            <a:r>
              <a:rPr lang="en-US" sz="4000" dirty="0">
                <a:latin typeface="Times New Roman"/>
                <a:ea typeface="Times New Roman"/>
                <a:cs typeface="Times New Roman"/>
                <a:sym typeface="Times New Roman"/>
              </a:rPr>
              <a:t>Project Title</a:t>
            </a:r>
            <a:endParaRPr sz="4000" dirty="0">
              <a:latin typeface="Times New Roman"/>
              <a:ea typeface="Times New Roman"/>
              <a:cs typeface="Times New Roman"/>
              <a:sym typeface="Times New Roman"/>
            </a:endParaRPr>
          </a:p>
        </p:txBody>
      </p:sp>
      <p:sp>
        <p:nvSpPr>
          <p:cNvPr id="46" name="Google Shape;46;p1"/>
          <p:cNvSpPr txBox="1">
            <a:spLocks noGrp="1"/>
          </p:cNvSpPr>
          <p:nvPr>
            <p:ph type="sldNum" idx="12"/>
          </p:nvPr>
        </p:nvSpPr>
        <p:spPr>
          <a:xfrm>
            <a:off x="6553200" y="6629400"/>
            <a:ext cx="2133600" cy="178955"/>
          </a:xfrm>
          <a:prstGeom prst="rect">
            <a:avLst/>
          </a:prstGeom>
          <a:noFill/>
          <a:ln>
            <a:noFill/>
          </a:ln>
        </p:spPr>
        <p:txBody>
          <a:bodyPr spcFirstLastPara="1" wrap="square" lIns="0" tIns="1900" rIns="0" bIns="0" anchor="ctr" anchorCtr="0">
            <a:spAutoFit/>
          </a:bodyPr>
          <a:lstStyle/>
          <a:p>
            <a:pPr marL="12700" lvl="0" indent="0" algn="r" rtl="0">
              <a:lnSpc>
                <a:spcPct val="100000"/>
              </a:lnSpc>
              <a:spcBef>
                <a:spcPts val="15"/>
              </a:spcBef>
              <a:spcAft>
                <a:spcPts val="0"/>
              </a:spcAft>
              <a:buSzPts val="1200"/>
              <a:buNone/>
            </a:pPr>
            <a:fld id="{00000000-1234-1234-1234-123412341234}" type="slidenum">
              <a:rPr lang="en-US"/>
              <a:t>1</a:t>
            </a:fld>
            <a:endParaRPr/>
          </a:p>
        </p:txBody>
      </p:sp>
      <p:sp>
        <p:nvSpPr>
          <p:cNvPr id="2" name="Google Shape;45;p1">
            <a:extLst>
              <a:ext uri="{FF2B5EF4-FFF2-40B4-BE49-F238E27FC236}">
                <a16:creationId xmlns:a16="http://schemas.microsoft.com/office/drawing/2014/main" id="{8FDB3F05-2CEB-36F5-C422-0A37C0A9F0CB}"/>
              </a:ext>
            </a:extLst>
          </p:cNvPr>
          <p:cNvSpPr txBox="1">
            <a:spLocks/>
          </p:cNvSpPr>
          <p:nvPr/>
        </p:nvSpPr>
        <p:spPr>
          <a:xfrm>
            <a:off x="433631" y="4438942"/>
            <a:ext cx="3129699" cy="961802"/>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spcBef>
                <a:spcPts val="100"/>
              </a:spcBef>
            </a:pPr>
            <a:r>
              <a:rPr lang="en-US" sz="2000" dirty="0"/>
              <a:t>Submitted to:</a:t>
            </a:r>
          </a:p>
          <a:p>
            <a:pPr marL="12700" marR="5080">
              <a:spcBef>
                <a:spcPts val="100"/>
              </a:spcBef>
            </a:pPr>
            <a:r>
              <a:rPr lang="en-US" sz="2000" dirty="0"/>
              <a:t>Department of Computer Applications</a:t>
            </a:r>
          </a:p>
        </p:txBody>
      </p:sp>
      <p:sp>
        <p:nvSpPr>
          <p:cNvPr id="5" name="Google Shape;45;p1">
            <a:extLst>
              <a:ext uri="{FF2B5EF4-FFF2-40B4-BE49-F238E27FC236}">
                <a16:creationId xmlns:a16="http://schemas.microsoft.com/office/drawing/2014/main" id="{BA30764E-4E62-0F0A-DCFC-7247F6628B9B}"/>
              </a:ext>
            </a:extLst>
          </p:cNvPr>
          <p:cNvSpPr txBox="1">
            <a:spLocks/>
          </p:cNvSpPr>
          <p:nvPr/>
        </p:nvSpPr>
        <p:spPr>
          <a:xfrm>
            <a:off x="6130203" y="4367807"/>
            <a:ext cx="2035278" cy="1603003"/>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spcBef>
                <a:spcPts val="100"/>
              </a:spcBef>
            </a:pPr>
            <a:r>
              <a:rPr lang="en-US" sz="2000" dirty="0"/>
              <a:t>Submitted by:</a:t>
            </a:r>
          </a:p>
          <a:p>
            <a:pPr marL="12700" marR="5080">
              <a:spcBef>
                <a:spcPts val="100"/>
              </a:spcBef>
            </a:pPr>
            <a:r>
              <a:rPr lang="en-US" sz="2000" dirty="0"/>
              <a:t>Rahul </a:t>
            </a:r>
            <a:r>
              <a:rPr lang="en-US" sz="2000" dirty="0" err="1" smtClean="0"/>
              <a:t>Prashar</a:t>
            </a:r>
            <a:endParaRPr lang="en-US" sz="2000" dirty="0" smtClean="0"/>
          </a:p>
          <a:p>
            <a:pPr marL="12700" marR="5080">
              <a:spcBef>
                <a:spcPts val="100"/>
              </a:spcBef>
            </a:pPr>
            <a:r>
              <a:rPr lang="en-US" sz="2000" dirty="0" smtClean="0"/>
              <a:t>Akshay</a:t>
            </a:r>
            <a:endParaRPr lang="en-US" sz="2000" dirty="0"/>
          </a:p>
          <a:p>
            <a:pPr marL="12700" marR="5080">
              <a:spcBef>
                <a:spcPts val="100"/>
              </a:spcBef>
            </a:pPr>
            <a:r>
              <a:rPr lang="en-US" sz="2000" dirty="0" err="1" smtClean="0"/>
              <a:t>Gaurish</a:t>
            </a:r>
            <a:endParaRPr lang="en-US" sz="2000" dirty="0"/>
          </a:p>
          <a:p>
            <a:pPr marL="12700" marR="5080">
              <a:spcBef>
                <a:spcPts val="100"/>
              </a:spcBef>
            </a:pPr>
            <a:r>
              <a:rPr lang="en-US" sz="2000" dirty="0" err="1" smtClean="0"/>
              <a:t>Gurjot</a:t>
            </a:r>
            <a:endParaRPr lang="en-US" sz="2000" dirty="0"/>
          </a:p>
        </p:txBody>
      </p:sp>
      <p:sp>
        <p:nvSpPr>
          <p:cNvPr id="3" name="TextBox 2">
            <a:extLst>
              <a:ext uri="{FF2B5EF4-FFF2-40B4-BE49-F238E27FC236}">
                <a16:creationId xmlns:a16="http://schemas.microsoft.com/office/drawing/2014/main" id="{F1947B0B-57A3-070C-CD0D-B35D3BE21670}"/>
              </a:ext>
            </a:extLst>
          </p:cNvPr>
          <p:cNvSpPr txBox="1"/>
          <p:nvPr/>
        </p:nvSpPr>
        <p:spPr>
          <a:xfrm>
            <a:off x="1562923" y="2782714"/>
            <a:ext cx="6386457"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	</a:t>
            </a:r>
            <a:r>
              <a:rPr lang="en-US" sz="4000" b="1" dirty="0" err="1" smtClean="0">
                <a:latin typeface="Times New Roman" panose="02020603050405020304" pitchFamily="18" charset="0"/>
                <a:cs typeface="Times New Roman" panose="02020603050405020304" pitchFamily="18" charset="0"/>
              </a:rPr>
              <a:t>TechCo</a:t>
            </a:r>
            <a:endParaRPr lang="en-IN" sz="40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2"/>
          <p:cNvSpPr txBox="1"/>
          <p:nvPr/>
        </p:nvSpPr>
        <p:spPr>
          <a:xfrm>
            <a:off x="184826" y="1021404"/>
            <a:ext cx="8707837" cy="4402315"/>
          </a:xfrm>
          <a:prstGeom prst="rect">
            <a:avLst/>
          </a:prstGeom>
          <a:noFill/>
          <a:ln>
            <a:noFill/>
          </a:ln>
        </p:spPr>
        <p:txBody>
          <a:bodyPr spcFirstLastPara="1" wrap="square" lIns="91425" tIns="45700" rIns="91425" bIns="45700" anchor="t" anchorCtr="0">
            <a:spAutoFit/>
          </a:bodyPr>
          <a:lstStyle/>
          <a:p>
            <a:pPr marL="12700" marR="5080" lvl="0" algn="just"/>
            <a:r>
              <a:rPr lang="en-IN" sz="2800" b="1" dirty="0">
                <a:latin typeface="Times New Roman" panose="02020603050405020304" pitchFamily="18" charset="0"/>
                <a:cs typeface="Times New Roman" panose="02020603050405020304" pitchFamily="18" charset="0"/>
              </a:rPr>
              <a:t>Brief Overview:</a:t>
            </a:r>
          </a:p>
          <a:p>
            <a:pPr marL="12700" marR="5080" lvl="0" algn="just"/>
            <a:endParaRPr lang="en-IN" sz="2800" dirty="0">
              <a:latin typeface="Times New Roman" panose="02020603050405020304" pitchFamily="18" charset="0"/>
              <a:ea typeface="Times New Roman"/>
              <a:cs typeface="Times New Roman" panose="02020603050405020304" pitchFamily="18" charset="0"/>
              <a:sym typeface="Times New Roman"/>
            </a:endParaRPr>
          </a:p>
          <a:p>
            <a:pPr marL="12700" marR="5080" lvl="0" algn="just"/>
            <a:r>
              <a:rPr lang="en-US" sz="2800" dirty="0" err="1"/>
              <a:t>TechCO</a:t>
            </a:r>
            <a:r>
              <a:rPr lang="en-US" sz="2800" dirty="0"/>
              <a:t> is a software company that positions itself as a team of innovators focused on transforming businesses through technology. </a:t>
            </a:r>
            <a:r>
              <a:rPr lang="en-US" sz="2800" dirty="0" smtClean="0"/>
              <a:t>our</a:t>
            </a:r>
            <a:r>
              <a:rPr lang="en-US" sz="2800" dirty="0" smtClean="0"/>
              <a:t> </a:t>
            </a:r>
            <a:r>
              <a:rPr lang="en-US" sz="2800" dirty="0"/>
              <a:t>mission is to craft scalable, secure, and user-centric software solutions to help businesses succeed in the digital age. The company's profile highlights a team of expert developers, visionary designers, and strategic thinkers committed to excellence and transparency</a:t>
            </a:r>
            <a:endParaRPr lang="en-IN" sz="28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EEE3-87AB-54C9-41F7-EA08D33A3FB1}"/>
              </a:ext>
            </a:extLst>
          </p:cNvPr>
          <p:cNvSpPr>
            <a:spLocks noGrp="1"/>
          </p:cNvSpPr>
          <p:nvPr>
            <p:ph type="title"/>
          </p:nvPr>
        </p:nvSpPr>
        <p:spPr/>
        <p:txBody>
          <a:bodyPr/>
          <a:lstStyle/>
          <a:p>
            <a:r>
              <a:rPr lang="en-IN" dirty="0"/>
              <a:t>                                </a:t>
            </a:r>
          </a:p>
        </p:txBody>
      </p:sp>
      <p:sp>
        <p:nvSpPr>
          <p:cNvPr id="3" name="Text Placeholder 2">
            <a:extLst>
              <a:ext uri="{FF2B5EF4-FFF2-40B4-BE49-F238E27FC236}">
                <a16:creationId xmlns:a16="http://schemas.microsoft.com/office/drawing/2014/main" id="{F4172172-F9E4-2E54-C9BB-72883968F16B}"/>
              </a:ext>
            </a:extLst>
          </p:cNvPr>
          <p:cNvSpPr>
            <a:spLocks noGrp="1"/>
          </p:cNvSpPr>
          <p:nvPr>
            <p:ph type="body" idx="1"/>
          </p:nvPr>
        </p:nvSpPr>
        <p:spPr>
          <a:xfrm>
            <a:off x="457200" y="1017638"/>
            <a:ext cx="8229600" cy="5107859"/>
          </a:xfrm>
        </p:spPr>
        <p:txBody>
          <a:bodyPr/>
          <a:lstStyle/>
          <a:p>
            <a:pPr marL="88900" indent="0">
              <a:buNone/>
            </a:pPr>
            <a:r>
              <a:rPr lang="en-IN" sz="2800" dirty="0"/>
              <a:t>Problem Statement :</a:t>
            </a:r>
          </a:p>
          <a:p>
            <a:pPr marL="88900" indent="0">
              <a:buNone/>
            </a:pPr>
            <a:endParaRPr lang="en-IN" sz="1500" dirty="0"/>
          </a:p>
          <a:p>
            <a:pPr marL="88900" indent="0">
              <a:buNone/>
            </a:pPr>
            <a:r>
              <a:rPr lang="en-US" sz="1800" dirty="0"/>
              <a:t>In today's digital-first economy, a technology company without a robust online platform faces significant barriers to growth. The core problem is the inability to establish market credibility, effectively showcase complex technical services, and attract both new clients and skilled employees. Without a central digital hub, the company struggles with</a:t>
            </a:r>
            <a:r>
              <a:rPr lang="en-US" sz="1800" dirty="0" smtClean="0"/>
              <a:t>:</a:t>
            </a:r>
          </a:p>
          <a:p>
            <a:pPr marL="88900" indent="0">
              <a:buNone/>
            </a:pPr>
            <a:endParaRPr lang="en-US" sz="1800" dirty="0" smtClean="0"/>
          </a:p>
          <a:p>
            <a:pPr marL="88900" indent="0">
              <a:buNone/>
            </a:pPr>
            <a:r>
              <a:rPr lang="en-US" sz="2000" dirty="0" smtClean="0"/>
              <a:t>*</a:t>
            </a:r>
            <a:r>
              <a:rPr lang="en-US" sz="2000" b="1" dirty="0"/>
              <a:t>Lack of Visibility and </a:t>
            </a:r>
            <a:r>
              <a:rPr lang="en-US" sz="2000" b="1" dirty="0" smtClean="0"/>
              <a:t>Trust</a:t>
            </a:r>
            <a:r>
              <a:rPr lang="en-US" sz="2000" dirty="0" smtClean="0"/>
              <a:t>: </a:t>
            </a:r>
            <a:r>
              <a:rPr lang="en-US" sz="1800" dirty="0" smtClean="0"/>
              <a:t>Potential </a:t>
            </a:r>
            <a:r>
              <a:rPr lang="en-US" sz="1800" dirty="0"/>
              <a:t>clients have no way to verify the company's legitimacy, view its offerings, or understand </a:t>
            </a:r>
            <a:r>
              <a:rPr lang="en-US" sz="1800" dirty="0" err="1" smtClean="0"/>
              <a:t>itsmission</a:t>
            </a:r>
            <a:r>
              <a:rPr lang="en-US" sz="1800" dirty="0" smtClean="0"/>
              <a:t>.</a:t>
            </a:r>
          </a:p>
          <a:p>
            <a:pPr marL="88900" indent="0">
              <a:buNone/>
            </a:pPr>
            <a:r>
              <a:rPr lang="en-US" sz="2000" dirty="0" smtClean="0"/>
              <a:t>*</a:t>
            </a:r>
            <a:r>
              <a:rPr lang="en-US" sz="2000" b="1" dirty="0"/>
              <a:t>Ineffective Lead Generation</a:t>
            </a:r>
            <a:r>
              <a:rPr lang="en-US" sz="2000" dirty="0" smtClean="0"/>
              <a:t>: </a:t>
            </a:r>
            <a:r>
              <a:rPr lang="en-US" sz="1800" dirty="0"/>
              <a:t>There is no clear or scalable method for interested customers to learn about service costs or make inquiries</a:t>
            </a:r>
            <a:r>
              <a:rPr lang="en-US" sz="1800" dirty="0" smtClean="0"/>
              <a:t>. </a:t>
            </a:r>
            <a:r>
              <a:rPr lang="en-US" sz="1800" dirty="0"/>
              <a:t>*Inefficient Recruitment Process</a:t>
            </a:r>
            <a:r>
              <a:rPr lang="en-US" sz="1800" dirty="0" smtClean="0"/>
              <a:t>: </a:t>
            </a:r>
            <a:r>
              <a:rPr lang="en-US" sz="1800" dirty="0"/>
              <a:t>The company cannot easily broadcast job openings or streamline the application process, making it difficult to attract top talent.</a:t>
            </a:r>
            <a:endParaRPr lang="en-IN" sz="1800" dirty="0"/>
          </a:p>
        </p:txBody>
      </p:sp>
    </p:spTree>
    <p:extLst>
      <p:ext uri="{BB962C8B-B14F-4D97-AF65-F5344CB8AC3E}">
        <p14:creationId xmlns:p14="http://schemas.microsoft.com/office/powerpoint/2010/main" val="184869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0B53-A082-97FE-7B2B-019D23CB02D7}"/>
              </a:ext>
            </a:extLst>
          </p:cNvPr>
          <p:cNvSpPr>
            <a:spLocks noGrp="1"/>
          </p:cNvSpPr>
          <p:nvPr>
            <p:ph type="title"/>
          </p:nvPr>
        </p:nvSpPr>
        <p:spPr/>
        <p:txBody>
          <a:bodyPr/>
          <a:lstStyle/>
          <a:p>
            <a:r>
              <a:rPr lang="en-IN" dirty="0"/>
              <a:t>                               </a:t>
            </a:r>
          </a:p>
        </p:txBody>
      </p:sp>
      <p:sp>
        <p:nvSpPr>
          <p:cNvPr id="3" name="Text Placeholder 2">
            <a:extLst>
              <a:ext uri="{FF2B5EF4-FFF2-40B4-BE49-F238E27FC236}">
                <a16:creationId xmlns:a16="http://schemas.microsoft.com/office/drawing/2014/main" id="{1657B535-C8DE-6AB1-C221-DCDE50B2454E}"/>
              </a:ext>
            </a:extLst>
          </p:cNvPr>
          <p:cNvSpPr>
            <a:spLocks noGrp="1"/>
          </p:cNvSpPr>
          <p:nvPr>
            <p:ph type="body" idx="1"/>
          </p:nvPr>
        </p:nvSpPr>
        <p:spPr>
          <a:xfrm>
            <a:off x="405580" y="975852"/>
            <a:ext cx="8332839" cy="5545393"/>
          </a:xfrm>
        </p:spPr>
        <p:txBody>
          <a:bodyPr/>
          <a:lstStyle/>
          <a:p>
            <a:pPr marL="88900" indent="0">
              <a:buNone/>
            </a:pPr>
            <a:r>
              <a:rPr lang="en-US" sz="2400" dirty="0"/>
              <a:t>Proposed Solution</a:t>
            </a:r>
          </a:p>
          <a:p>
            <a:endParaRPr lang="en-US" sz="2000" b="1" dirty="0" smtClean="0"/>
          </a:p>
          <a:p>
            <a:pPr marL="88900" indent="0">
              <a:buNone/>
            </a:pPr>
            <a:r>
              <a:rPr lang="en-US" sz="1700" dirty="0"/>
              <a:t>The </a:t>
            </a:r>
            <a:r>
              <a:rPr lang="en-US" sz="1700" dirty="0" err="1"/>
              <a:t>TechCO</a:t>
            </a:r>
            <a:r>
              <a:rPr lang="en-US" sz="1700" dirty="0"/>
              <a:t> website directly addresses the problem statement by implementing a series of targeted solutions, each corresponding to a specific challenge</a:t>
            </a:r>
            <a:r>
              <a:rPr lang="en-US" sz="1700" dirty="0" smtClean="0"/>
              <a:t>:</a:t>
            </a:r>
          </a:p>
          <a:p>
            <a:pPr marL="88900" indent="0">
              <a:buNone/>
            </a:pPr>
            <a:r>
              <a:rPr lang="en-US" sz="1700" b="1" dirty="0"/>
              <a:t>Solution for </a:t>
            </a:r>
            <a:r>
              <a:rPr lang="en-US" sz="1700" b="1" dirty="0" smtClean="0"/>
              <a:t>Credibility</a:t>
            </a:r>
            <a:r>
              <a:rPr lang="en-US" sz="1700" dirty="0" smtClean="0"/>
              <a:t>: The </a:t>
            </a:r>
            <a:r>
              <a:rPr lang="en-US" sz="1700" dirty="0"/>
              <a:t>website features a professional "Our Profile" page explaining who the company is </a:t>
            </a:r>
            <a:r>
              <a:rPr lang="en-US" sz="1700" dirty="0" smtClean="0"/>
              <a:t> and </a:t>
            </a:r>
            <a:r>
              <a:rPr lang="en-US" sz="1700" dirty="0"/>
              <a:t>a "Meet Our Team Members" section to build trust and showcase </a:t>
            </a:r>
            <a:r>
              <a:rPr lang="en-US" sz="1700" dirty="0" smtClean="0"/>
              <a:t>expertise.</a:t>
            </a:r>
          </a:p>
          <a:p>
            <a:pPr marL="88900" indent="0">
              <a:buNone/>
            </a:pPr>
            <a:r>
              <a:rPr lang="en-US" sz="1700" b="1" dirty="0"/>
              <a:t>Solution for Showcasing Services</a:t>
            </a:r>
            <a:r>
              <a:rPr lang="en-US" sz="1700" dirty="0" smtClean="0"/>
              <a:t>: </a:t>
            </a:r>
            <a:r>
              <a:rPr lang="en-US" sz="1700" dirty="0"/>
              <a:t>A dedicated "Our Products &amp; Services" page clearly outlines the three main service pillars, allowing potential clients to easily understand the company's </a:t>
            </a:r>
            <a:r>
              <a:rPr lang="en-US" sz="1700" dirty="0" smtClean="0"/>
              <a:t>capabilities.</a:t>
            </a:r>
            <a:endParaRPr lang="en-IN" sz="1700" dirty="0"/>
          </a:p>
          <a:p>
            <a:pPr marL="88900" indent="0">
              <a:buNone/>
            </a:pPr>
            <a:r>
              <a:rPr lang="en-US" sz="1700" b="1" dirty="0"/>
              <a:t>Solution for Lead Generation</a:t>
            </a:r>
            <a:r>
              <a:rPr lang="en-US" sz="1700" dirty="0" smtClean="0"/>
              <a:t>: </a:t>
            </a:r>
            <a:r>
              <a:rPr lang="en-US" sz="1700" dirty="0"/>
              <a:t>The "Flexible Pricing Plans" page provides clear, tiered options for different business </a:t>
            </a:r>
            <a:r>
              <a:rPr lang="en-US" sz="1700" dirty="0" err="1" smtClean="0"/>
              <a:t>sizes.The</a:t>
            </a:r>
            <a:r>
              <a:rPr lang="en-US" sz="1700" dirty="0" smtClean="0"/>
              <a:t> </a:t>
            </a:r>
            <a:r>
              <a:rPr lang="en-US" sz="1700" dirty="0"/>
              <a:t>"Business" plan is highlighted as the most popular choice, and an Enterprise-level "Contact Us" option serves as a direct channel for high-value </a:t>
            </a:r>
            <a:r>
              <a:rPr lang="en-US" sz="1700" dirty="0" smtClean="0"/>
              <a:t>leads.</a:t>
            </a:r>
          </a:p>
          <a:p>
            <a:pPr marL="88900" indent="0">
              <a:buNone/>
            </a:pPr>
            <a:r>
              <a:rPr lang="en-US" sz="1700" b="1" dirty="0"/>
              <a:t>Solution for Recruitment</a:t>
            </a:r>
            <a:r>
              <a:rPr lang="en-US" sz="1700" dirty="0"/>
              <a:t>:* The "Career Opportunities" page acts as a complete talent acquisition portal. </a:t>
            </a:r>
            <a:r>
              <a:rPr lang="en-US" sz="1700" dirty="0" smtClean="0"/>
              <a:t>It </a:t>
            </a:r>
            <a:r>
              <a:rPr lang="en-US" sz="1700" dirty="0"/>
              <a:t>lists current openings like "Senior Frontend Developer" and "Cloud Security Engineer" </a:t>
            </a:r>
            <a:r>
              <a:rPr lang="en-US" sz="1700" dirty="0" smtClean="0"/>
              <a:t>and </a:t>
            </a:r>
            <a:r>
              <a:rPr lang="en-US" sz="1700" dirty="0"/>
              <a:t>features an "Apply Now" form where candidates can enter their name, email, phone number, and position </a:t>
            </a:r>
            <a:r>
              <a:rPr lang="en-US" sz="1700" dirty="0" smtClean="0"/>
              <a:t>preference.</a:t>
            </a:r>
            <a:endParaRPr lang="en-IN" sz="1700" dirty="0"/>
          </a:p>
        </p:txBody>
      </p:sp>
    </p:spTree>
    <p:extLst>
      <p:ext uri="{BB962C8B-B14F-4D97-AF65-F5344CB8AC3E}">
        <p14:creationId xmlns:p14="http://schemas.microsoft.com/office/powerpoint/2010/main" val="2833139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1DD1E9-F726-2F82-4B28-7356E293903F}"/>
              </a:ext>
            </a:extLst>
          </p:cNvPr>
          <p:cNvSpPr txBox="1"/>
          <p:nvPr/>
        </p:nvSpPr>
        <p:spPr>
          <a:xfrm>
            <a:off x="339363" y="961534"/>
            <a:ext cx="4760537" cy="492443"/>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A Glimpse of Our Website</a:t>
            </a:r>
            <a:endParaRPr lang="en-IN" sz="26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188" y="1750978"/>
            <a:ext cx="8035047" cy="4164450"/>
          </a:xfrm>
          <a:prstGeom prst="rect">
            <a:avLst/>
          </a:prstGeom>
        </p:spPr>
      </p:pic>
    </p:spTree>
    <p:extLst>
      <p:ext uri="{BB962C8B-B14F-4D97-AF65-F5344CB8AC3E}">
        <p14:creationId xmlns:p14="http://schemas.microsoft.com/office/powerpoint/2010/main" val="3371353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55" y="1682886"/>
            <a:ext cx="7159558" cy="3698181"/>
          </a:xfrm>
          <a:prstGeom prst="rect">
            <a:avLst/>
          </a:prstGeom>
        </p:spPr>
      </p:pic>
    </p:spTree>
    <p:extLst>
      <p:ext uri="{BB962C8B-B14F-4D97-AF65-F5344CB8AC3E}">
        <p14:creationId xmlns:p14="http://schemas.microsoft.com/office/powerpoint/2010/main" val="31910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106" y="1624364"/>
            <a:ext cx="4941651" cy="3940011"/>
          </a:xfrm>
          <a:prstGeom prst="rect">
            <a:avLst/>
          </a:prstGeom>
        </p:spPr>
      </p:pic>
      <p:sp>
        <p:nvSpPr>
          <p:cNvPr id="4" name="TextBox 3"/>
          <p:cNvSpPr txBox="1"/>
          <p:nvPr/>
        </p:nvSpPr>
        <p:spPr>
          <a:xfrm>
            <a:off x="5768502" y="2052381"/>
            <a:ext cx="2957208" cy="2923877"/>
          </a:xfrm>
          <a:prstGeom prst="rect">
            <a:avLst/>
          </a:prstGeom>
          <a:noFill/>
        </p:spPr>
        <p:txBody>
          <a:bodyPr wrap="square" rtlCol="0">
            <a:spAutoFit/>
          </a:bodyPr>
          <a:lstStyle/>
          <a:p>
            <a:r>
              <a:rPr lang="en-US" sz="1600" b="1" dirty="0" smtClean="0"/>
              <a:t>Key Observations:</a:t>
            </a:r>
          </a:p>
          <a:p>
            <a:endParaRPr lang="en-IN" sz="1200" b="1" dirty="0" smtClean="0"/>
          </a:p>
          <a:p>
            <a:pPr marL="171450" indent="-171450">
              <a:buFont typeface="Arial" panose="020B0604020202020204" pitchFamily="34" charset="0"/>
              <a:buChar char="•"/>
            </a:pPr>
            <a:r>
              <a:rPr lang="en-IN" sz="1200" b="1" dirty="0" smtClean="0"/>
              <a:t>Establish </a:t>
            </a:r>
            <a:r>
              <a:rPr lang="en-IN" sz="1200" b="1" dirty="0"/>
              <a:t>a Professional </a:t>
            </a:r>
            <a:r>
              <a:rPr lang="en-IN" sz="1200" b="1" dirty="0" smtClean="0"/>
              <a:t>Online Presence</a:t>
            </a:r>
          </a:p>
          <a:p>
            <a:pPr marL="171450" indent="-171450">
              <a:buFont typeface="Arial" panose="020B0604020202020204" pitchFamily="34" charset="0"/>
              <a:buChar char="•"/>
            </a:pPr>
            <a:endParaRPr lang="en-IN" sz="1200" b="1" dirty="0" smtClean="0"/>
          </a:p>
          <a:p>
            <a:pPr marL="171450" indent="-171450">
              <a:buFont typeface="Arial" panose="020B0604020202020204" pitchFamily="34" charset="0"/>
              <a:buChar char="•"/>
            </a:pPr>
            <a:r>
              <a:rPr lang="en-IN" sz="1200" b="1" dirty="0"/>
              <a:t>Clearly Define Service </a:t>
            </a:r>
            <a:r>
              <a:rPr lang="en-IN" sz="1200" b="1" dirty="0" smtClean="0"/>
              <a:t>Offerings</a:t>
            </a:r>
          </a:p>
          <a:p>
            <a:pPr marL="171450" indent="-171450">
              <a:buFont typeface="Arial" panose="020B0604020202020204" pitchFamily="34" charset="0"/>
              <a:buChar char="•"/>
            </a:pPr>
            <a:endParaRPr lang="en-IN" sz="1200" b="1" dirty="0" smtClean="0"/>
          </a:p>
          <a:p>
            <a:pPr marL="171450" indent="-171450">
              <a:buFont typeface="Arial" panose="020B0604020202020204" pitchFamily="34" charset="0"/>
              <a:buChar char="•"/>
            </a:pPr>
            <a:r>
              <a:rPr lang="en-US" sz="1200" b="1" dirty="0"/>
              <a:t>Showcase Company Identity and </a:t>
            </a:r>
            <a:r>
              <a:rPr lang="en-US" sz="1200" b="1" dirty="0" smtClean="0"/>
              <a:t>Team</a:t>
            </a:r>
          </a:p>
          <a:p>
            <a:pPr marL="171450" indent="-171450">
              <a:buFont typeface="Arial" panose="020B0604020202020204" pitchFamily="34" charset="0"/>
              <a:buChar char="•"/>
            </a:pPr>
            <a:endParaRPr lang="en-US" sz="1200" b="1" dirty="0" smtClean="0"/>
          </a:p>
          <a:p>
            <a:pPr marL="171450" indent="-171450">
              <a:buFont typeface="Arial" panose="020B0604020202020204" pitchFamily="34" charset="0"/>
              <a:buChar char="•"/>
            </a:pPr>
            <a:r>
              <a:rPr lang="en-US" sz="1200" b="1" dirty="0"/>
              <a:t>Implement a Transparent Pricing </a:t>
            </a:r>
            <a:r>
              <a:rPr lang="en-US" sz="1200" b="1" dirty="0" smtClean="0"/>
              <a:t>Model</a:t>
            </a:r>
          </a:p>
          <a:p>
            <a:pPr marL="171450" indent="-171450">
              <a:buFont typeface="Arial" panose="020B0604020202020204" pitchFamily="34" charset="0"/>
              <a:buChar char="•"/>
            </a:pPr>
            <a:endParaRPr lang="en-US" sz="1200" b="1" dirty="0" smtClean="0"/>
          </a:p>
          <a:p>
            <a:pPr marL="171450" indent="-171450">
              <a:buFont typeface="Arial" panose="020B0604020202020204" pitchFamily="34" charset="0"/>
              <a:buChar char="•"/>
            </a:pPr>
            <a:r>
              <a:rPr lang="en-IN" sz="1200" b="1" dirty="0"/>
              <a:t>Facilitate Talent </a:t>
            </a:r>
            <a:r>
              <a:rPr lang="en-IN" sz="1200" b="1" dirty="0" smtClean="0"/>
              <a:t>Acquisition</a:t>
            </a:r>
            <a:br>
              <a:rPr lang="en-IN" sz="1200" b="1" dirty="0" smtClean="0"/>
            </a:br>
            <a:endParaRPr lang="en-IN" sz="1200" b="1" dirty="0"/>
          </a:p>
        </p:txBody>
      </p:sp>
    </p:spTree>
    <p:extLst>
      <p:ext uri="{BB962C8B-B14F-4D97-AF65-F5344CB8AC3E}">
        <p14:creationId xmlns:p14="http://schemas.microsoft.com/office/powerpoint/2010/main" val="334885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281" y="1449421"/>
            <a:ext cx="4572000" cy="4114800"/>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9471" y="1449421"/>
            <a:ext cx="3988341" cy="4114800"/>
          </a:xfrm>
          <a:prstGeom prst="rect">
            <a:avLst/>
          </a:prstGeom>
        </p:spPr>
      </p:pic>
    </p:spTree>
    <p:extLst>
      <p:ext uri="{BB962C8B-B14F-4D97-AF65-F5344CB8AC3E}">
        <p14:creationId xmlns:p14="http://schemas.microsoft.com/office/powerpoint/2010/main" val="228203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689AB-9106-81C6-D037-2304FB6306F6}"/>
              </a:ext>
            </a:extLst>
          </p:cNvPr>
          <p:cNvSpPr txBox="1"/>
          <p:nvPr/>
        </p:nvSpPr>
        <p:spPr>
          <a:xfrm>
            <a:off x="324465" y="963561"/>
            <a:ext cx="8298425" cy="544764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Conclusion &amp; Future Scope</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a:buNone/>
            </a:pPr>
            <a:r>
              <a:rPr lang="en-US" sz="1800" b="1" dirty="0">
                <a:latin typeface="Times New Roman" panose="02020603050405020304" pitchFamily="18" charset="0"/>
                <a:cs typeface="Times New Roman" panose="02020603050405020304" pitchFamily="18" charset="0"/>
              </a:rPr>
              <a:t>Conclusion:</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This project successfully achieved its objective of developing a fully-featured website for the tech company, </a:t>
            </a:r>
            <a:r>
              <a:rPr lang="en-US" sz="1500" dirty="0" err="1">
                <a:latin typeface="Times New Roman" panose="02020603050405020304" pitchFamily="18" charset="0"/>
                <a:cs typeface="Times New Roman" panose="02020603050405020304" pitchFamily="18" charset="0"/>
              </a:rPr>
              <a:t>TechCO</a:t>
            </a:r>
            <a:r>
              <a:rPr lang="en-US" sz="1500" dirty="0">
                <a:latin typeface="Times New Roman" panose="02020603050405020304" pitchFamily="18" charset="0"/>
                <a:cs typeface="Times New Roman" panose="02020603050405020304" pitchFamily="18" charset="0"/>
              </a:rPr>
              <a:t>. The final product is not just a digital brochure but a strategic tool that solves critical business problems. The website effectively establishes a strong brand identity, clearly communicates the company's value to clients, and streamlines the recruitment process. By integrating essential elements like a detailed service breakdown, transparent pricing, and a functional careers page, the </a:t>
            </a:r>
            <a:r>
              <a:rPr lang="en-US" sz="1500" dirty="0" err="1">
                <a:latin typeface="Times New Roman" panose="02020603050405020304" pitchFamily="18" charset="0"/>
                <a:cs typeface="Times New Roman" panose="02020603050405020304" pitchFamily="18" charset="0"/>
              </a:rPr>
              <a:t>TechCO</a:t>
            </a:r>
            <a:r>
              <a:rPr lang="en-US" sz="1500" dirty="0">
                <a:latin typeface="Times New Roman" panose="02020603050405020304" pitchFamily="18" charset="0"/>
                <a:cs typeface="Times New Roman" panose="02020603050405020304" pitchFamily="18" charset="0"/>
              </a:rPr>
              <a:t> website serves as a foundational asset that directly supports client acquisition and company growth</a:t>
            </a:r>
            <a:r>
              <a:rPr lang="en-US" sz="1500" dirty="0" smtClean="0">
                <a:latin typeface="Times New Roman" panose="02020603050405020304" pitchFamily="18" charset="0"/>
                <a:cs typeface="Times New Roman" panose="02020603050405020304" pitchFamily="18" charset="0"/>
              </a:rPr>
              <a:t>.</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Future Scope</a:t>
            </a:r>
            <a:r>
              <a:rPr lang="en-US" sz="16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1500" dirty="0"/>
              <a:t>Expansion of AI </a:t>
            </a:r>
            <a:r>
              <a:rPr lang="en-IN" sz="1500" dirty="0" smtClean="0"/>
              <a:t>Services</a:t>
            </a:r>
          </a:p>
          <a:p>
            <a:pPr marL="342900" indent="-342900">
              <a:buFont typeface="Arial" panose="020B0604020202020204" pitchFamily="34" charset="0"/>
              <a:buChar char="•"/>
            </a:pPr>
            <a:r>
              <a:rPr lang="en-IN" sz="1500" dirty="0"/>
              <a:t>Specialization in Cloud </a:t>
            </a:r>
            <a:r>
              <a:rPr lang="en-IN" sz="1500" dirty="0" smtClean="0"/>
              <a:t>Security</a:t>
            </a:r>
          </a:p>
          <a:p>
            <a:pPr marL="342900" indent="-342900">
              <a:buFont typeface="Arial" panose="020B0604020202020204" pitchFamily="34" charset="0"/>
              <a:buChar char="•"/>
            </a:pPr>
            <a:r>
              <a:rPr lang="en-IN" sz="1500" dirty="0"/>
              <a:t>Scaling Client </a:t>
            </a:r>
            <a:r>
              <a:rPr lang="en-IN" sz="1500" dirty="0" smtClean="0"/>
              <a:t>Acquisition</a:t>
            </a:r>
          </a:p>
          <a:p>
            <a:pPr marL="342900" indent="-342900">
              <a:buFont typeface="Arial" panose="020B0604020202020204" pitchFamily="34" charset="0"/>
              <a:buChar char="•"/>
            </a:pPr>
            <a:r>
              <a:rPr lang="en-IN" sz="1500" dirty="0"/>
              <a:t>Geographic and Team </a:t>
            </a:r>
            <a:r>
              <a:rPr lang="en-IN" sz="1500" dirty="0" smtClean="0"/>
              <a:t>Growth</a:t>
            </a:r>
          </a:p>
          <a:p>
            <a:endParaRPr lang="en-US" sz="1600" dirty="0">
              <a:latin typeface="Times New Roman" panose="02020603050405020304" pitchFamily="18" charset="0"/>
              <a:cs typeface="Times New Roman" panose="02020603050405020304" pitchFamily="18" charset="0"/>
            </a:endParaRPr>
          </a:p>
          <a:p>
            <a:pPr>
              <a:buNone/>
            </a:pPr>
            <a:r>
              <a:rPr lang="en-US" sz="1800" b="1" dirty="0" smtClean="0">
                <a:latin typeface="Times New Roman" panose="02020603050405020304" pitchFamily="18" charset="0"/>
                <a:cs typeface="Times New Roman" panose="02020603050405020304" pitchFamily="18" charset="0"/>
              </a:rPr>
              <a:t>Final </a:t>
            </a:r>
            <a:r>
              <a:rPr lang="en-US" sz="1800" b="1" dirty="0">
                <a:latin typeface="Times New Roman" panose="02020603050405020304" pitchFamily="18" charset="0"/>
                <a:cs typeface="Times New Roman" panose="02020603050405020304" pitchFamily="18" charset="0"/>
              </a:rPr>
              <a:t>Note:</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1500" dirty="0"/>
              <a:t>The </a:t>
            </a:r>
            <a:r>
              <a:rPr lang="en-US" sz="1500" dirty="0" err="1"/>
              <a:t>TechCO</a:t>
            </a:r>
            <a:r>
              <a:rPr lang="en-US" sz="1500" dirty="0"/>
              <a:t> website is more than just a digital presence; it's a strategic asset engineered for growth. It successfully translates the company's vision and capabilities into a platform that builds credibility, generates leads, and attracts top talent. By seamlessly integrating detailed service descriptions , a clear pricing structure , and a functional careers portal, the project serves as a powerful engine for business development. This website positions </a:t>
            </a:r>
            <a:r>
              <a:rPr lang="en-US" sz="1500" dirty="0" err="1"/>
              <a:t>TechCO</a:t>
            </a:r>
            <a:r>
              <a:rPr lang="en-US" sz="1500" dirty="0"/>
              <a:t> as a credible and forward-thinking competitor in the technology industry, ready for future expansion</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878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38727A-2AAD-433B-41E5-41F8DA9049FC}"/>
              </a:ext>
            </a:extLst>
          </p:cNvPr>
          <p:cNvSpPr txBox="1"/>
          <p:nvPr/>
        </p:nvSpPr>
        <p:spPr>
          <a:xfrm>
            <a:off x="2271859" y="2780907"/>
            <a:ext cx="5165889" cy="923330"/>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THANK YOU</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61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460</Words>
  <Application>Microsoft Office PowerPoint</Application>
  <PresentationFormat>On-screen Show (4:3)</PresentationFormat>
  <Paragraphs>51</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Trebuchet MS</vt:lpstr>
      <vt:lpstr>Theme2</vt:lpstr>
      <vt:lpstr>Project Title</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Toshiba</dc:creator>
  <cp:lastModifiedBy>lenovo</cp:lastModifiedBy>
  <cp:revision>9</cp:revision>
  <dcterms:created xsi:type="dcterms:W3CDTF">2025-08-12T04:51:10Z</dcterms:created>
  <dcterms:modified xsi:type="dcterms:W3CDTF">2025-10-09T05:45:23Z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2019-07-01T00:00:00Z</vt:filetime>
  </property>
  <property fmtid="{D5CDD505-2E9C-101B-9397-08002B2CF9AE}" pid="3" name="Creator">
    <vt:lpwstr>Microsoft® PowerPoint® for Office 365</vt:lpwstr>
  </property>
  <property fmtid="{D5CDD505-2E9C-101B-9397-08002B2CF9AE}" pid="4" name="LastSaved">
    <vt:filetime>2025-08-12T00:00:00Z</vt:filetime>
  </property>
  <property fmtid="{D5CDD505-2E9C-101B-9397-08002B2CF9AE}" pid="5" name="Producer">
    <vt:lpwstr>Microsoft® PowerPoint® for Office 365</vt:lpwstr>
  </property>
</Properties>
</file>